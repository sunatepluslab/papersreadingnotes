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6" r:id="rId9"/>
    <p:sldId id="262" r:id="rId10"/>
    <p:sldId id="263" r:id="rId11"/>
    <p:sldId id="265" r:id="rId12"/>
    <p:sldId id="264" r:id="rId13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本阶段围绕 SPACE 做了概念梳理、官方执行流程学习和真实环境复现。时间计划表把孙维泽与陈镜麒安排在第4项“多智能体系统安全防护原型系统构建”。因此，这次从可复用的执行能力和后续集成位置展开。当前成果属于学习与复现阶段，尚未实现完整安全防护原型。计划表中的后续节点是12月开源系统复现、1月原型系统设计、3月确定实现方案并本地搭建不少于5种多智能体系统，月份未附年份，不在此推定具体年度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Execution/师姐给我的信息/1022-时间计划表(1).xlsx</a:t>
            </a:r>
          </a:p>
          <a:p>
            <a:r>
              <a:t>E:/好好读论文/agent安全/项目/Sandboxed Platform for Agentic Code Execution/师姐给我的信息/与师姐的对话.txt</a:t>
            </a:r>
          </a:p>
          <a:p>
            <a:r>
              <a:t>E:/好好读论文/agent安全/项目/Sandboxed Platform for Agentic Code Execution/SPACE_notes/note_3.md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模板提供初始环境，沙箱是由模板创建的具体环境实例。应用负责选择命令，SPACE 负责管理环境和执行会话，最终执行程序的是 guest 中的进程。Firecracker 是底层 VMM，利用 Linux KVM 运行 microVM。这里展示职责层次，不代表所有请求都只经过图中这些组件。当前部署固定在源码提交4791af31eaa2。用户笔记中行业产品和版本调研不作为本页的比较结论。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Execution/SPACE_notes/note_1.md</a:t>
            </a:r>
          </a:p>
          <a:p>
            <a:r>
              <a:t>E:/好好读论文/agent安全/项目/Sandboxed Platform for Agentic Code Execution/SPACE-source/docs/architecture.md</a:t>
            </a:r>
          </a:p>
          <a:p>
            <a:r>
              <a:t>E:/好好读论文/agent安全/项目/Sandboxed Platform for Agentic Code Execution/部署记录/nat-recovery-verification.json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按官方 first_sandbox.py 讲解。创建接口先返回 sandbox_id 与 operation_id，随后客户端等待异步操作成功，再确认沙箱运行和进程接口就绪。run_command 先在控制面创建命令会话，服务端预分配 process_id。客户端使用 attachment token 连接数据面后才触发命令执行。consume_events 读取 stdout/stderr 事件，并要求看到正常退出的 process_exited 事件。管理凭证与连接令牌用途不同。命令完成并不等于沙箱被删除。客户端超时也不会自动取消服务端创建操作。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Execution/SPACE_notes/note_2.md</a:t>
            </a:r>
          </a:p>
          <a:p>
            <a:r>
              <a:t>E:/好好读论文/agent安全/项目/Sandboxed Platform for Agentic Code Execution/SPACE-source/examples/first_sandbox.py</a:t>
            </a:r>
          </a:p>
          <a:p>
            <a:r>
              <a:t>E:/好好读论文/agent安全/项目/Sandboxed Platform for Agentic Code Execution/SPACE-source/docs/first-sandbox.md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这一页的四个步骤来自实际 workspace 练习。先写入12和8，求和得到20，再将文件改为12和18，求和得到30。四次执行使用同一个沙箱，每次有独立的命令请求记录和 process_id。文件存在 guest 内，客户端 state.json 和 SSE 记录存在另一处。该实验说明同一沙箱可连续工作，不构成跨沙箱隔离或攻击防御验证。右侧为用户笔记中的原始运行截图节选，未改写输出值，完整截图见来源。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Execution/SPACE_notes/note_3.md</a:t>
            </a:r>
          </a:p>
          <a:p>
            <a:r>
              <a:t>E:/好好读论文/agent安全/项目/Sandboxed Platform for Agentic Code Execution/SPACE_notes/note_3.assets/image-20261027150321127.png</a:t>
            </a:r>
          </a:p>
          <a:p>
            <a:r>
              <a:t>E:/好好读论文/agent安全/项目/Sandboxed Platform for Agentic Code Execution/学习材料/progressive_examples.py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failure 例子主动打印一条错误信息并 exit 7。客户端按 process_exited.exit_code 判断失败，保存记录供检查，没有把 stderr 的存在直接当作失败依据。命令失败和整个沙箱的生命周期应分别处理，诊断后再显式清理。这是故意触发的程序失败测试，不是对恶意攻击的安全阻断实验。当前已验证的范围是创建、执行、事件输出、同一沙箱内文件保留、失败处理和删除，没有宣称完成越权访问、逃逸或网络策略验证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Execution/SPACE_notes/note_3.md</a:t>
            </a:r>
          </a:p>
          <a:p>
            <a:r>
              <a:t>E:/好好读论文/agent安全/项目/Sandboxed Platform for Agentic Code Execution/SPACE_notes/note_3.assets/image-20261027150442683.png</a:t>
            </a:r>
          </a:p>
          <a:p>
            <a:r>
              <a:t>E:/好好读论文/agent安全/项目/Sandboxed Platform for Agentic Code Execution/学习材料/验证记录.md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Progent论文arXiv:2504.11703v3第8.3节和附录F绘制。图示论文中的真实框架接入实验，不是我们的拟实现架构，也不是已在本机复现的实验。三列是两个接入模式在三类应用场景中的使用，不表示论文定义了三个不同integration mode。</a:t>
            </a:r>
          </a:p>
          <a:p/>
          <a:p>
            <a:r>
              <a:t>左列：LangChain使用Middleware，OpenAI Agents SDK使用Agent类wrapper；图将这两类库内接入归并为Progent中间件。策略检查嵌入agent runtime，Agent直接与其LLM服务交互，工具调用在运行时经过Progent再到MCP工具。该列不表示所有LLM请求必须先通过一个外部代理。</a:t>
            </a:r>
          </a:p>
          <a:p/>
          <a:p>
            <a:r>
              <a:t>中列：OpenHands实验采用代理模式，用户同时修改LLM API和MCP server endpoints，均指向Progent代理。图中为便于比较，将LLM API转发和MCP转发两个代理职责合并画作Progent代理实体。代理接入不修改Agent内部实现；但绕过外部MCP接口的内置工具不自动受该代理保护，论文第9节对此有明确限制。</a:t>
            </a:r>
          </a:p>
          <a:p/>
          <a:p>
            <a:r>
              <a:t>右列：论文采用AutoGen构建1个协调Agent和6个专家Agent：通用、工作区、Slack、银行、旅行、Web。实际实验使用统一控制，因为它们代表同一用户。专家调用被归并为系统对外接口，图中的纵向主链路不表示所有专家请求都必须由协调Agent手工逐个转发。附录F说明AutoGen亦使用代理模式。论文也讨论逐子Agent单独授权，但这不是本次AutoGen实验采用的设置，故未画成第四种已实测架构。</a:t>
            </a:r>
          </a:p>
          <a:p/>
          <a:p>
            <a:r>
              <a:t>三列底部为同一类可复用MCP基准：AgentDojo的环境和工具、正常任务和攻击任务迁移到MCP servers。框中的AgentDojo工具环境表示受控评测环境，不据此推断为SPACE、Firecracker或每Agent独立VM。结果沿图中双向边返回。初始化/更新策略所用LLM、SMT包含性检查和Approver细节在本页省略，Progent方框表示相关机制的归并。图不宣称不同Agent拥有单独物理主机或数据库。</a:t>
            </a:r>
          </a:p>
          <a:p/>
          <a:p>
            <a:r>
              <a:t>资料来源</a:t>
            </a:r>
          </a:p>
          <a:p>
            <a:r>
              <a:t>https://arxiv.org/html/2504.11703v3#S8.SS3</a:t>
            </a:r>
          </a:p>
          <a:p>
            <a:r>
              <a:t>https://arxiv.org/html/2504.11703v3#A6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后续研究与接入设想，尚未实现Progent—MCP—SPACE端到端集成。图只画代码执行类工具的前向主链路，拒绝的调用在授权模块返回，正常输出和状态沿工具链返回；邮件、银行等外部API工具不必经过SPACE。MCP工具服务是将Agent工具接口映射到SPACE API的待实现适配层，不意味着当前SPACE已提供这里画出的MCP服务。</a:t>
            </a:r>
          </a:p>
          <a:p/>
          <a:p>
            <a:r>
              <a:t>Progent检查工具名与结构化参数；SPACE提供隔离环境及其生命周期管理。授权调用run_python等宽泛工具，不等于代码中的所有行为都已经符合用户授权。每Agent映射哪个沙箱、放入哪些文件、暴露哪些共享接口、凭证和网络如何限制，都需要上层机制和具体配置。SPACE不会自动完成任务级授权，也不能用VM边界替代对共享消息的数据控制。</a:t>
            </a:r>
          </a:p>
          <a:p/>
          <a:p>
            <a:r>
              <a:t>如果仅复现结构化工具授权，SPACE不是必要条件；若研究代码执行期资源边界、多Agent私有数据隔离及攻击传播，则可用SPACE构建独立执行环境。研究贡献应落在授权到执行环境的映射机制、明确的攻击模型，以及对安全收益、正常任务完成率和开销的实证验证。现阶段只提出候选研究思路，尚未宣称完成这些安全实验。</a:t>
            </a:r>
          </a:p>
          <a:p/>
          <a:p>
            <a:r>
              <a:t>资料来源</a:t>
            </a:r>
          </a:p>
          <a:p>
            <a:r>
              <a:t>https://arxiv.org/html/2504.11703v3</a:t>
            </a:r>
          </a:p>
          <a:p>
            <a:r>
              <a:t>E:\好好读论文\agent安全\项目\Sandboxed Platform for Agentic Code Execution\SPACE-source\docs\architecture.md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这里是后续接入设想，不是已完成系统架构。项目计划书提出基于LangGraph等框架二次开发，在中间件中集成授权管理器、隔离执行器和凭证管理器。SPACE 可先作为隔离执行器的执行后端候选。第一步用一个最小 Agent 工具调用接到 SPACE。第二步让两个沙箱分别持有私有文件，验证一个沙箱不能通过自己的文件环境直接读取另一份文件，并逐步讨论显式共享接口及其授权。该实验只覆盖基本文件边界，不等于证明完整安全性。即使执行环境隔离，Agent 之间仍可能通过消息和共享数据传播风险，需要与授权和数据隔离工作协同。希望讨论的重点是：第一版原型优先接入哪类 Agent 工作流，以及优先验证哪些隔离能力。</a:t>
            </a:r>
          </a:p>
          <a:p/>
          <a:p>
            <a:r>
              <a:t>资料来源</a:t>
            </a:r>
          </a:p>
          <a:p>
            <a:r>
              <a:t>E:/好好读论文/agent安全/项目/Sandboxed Platform for Agentic Code Execution/师姐给我的信息/中国科学院信息工程研究所基础前沿研究“攀登计划”专项项目申报书_主要研究内容部分.pdf</a:t>
            </a:r>
          </a:p>
          <a:p>
            <a:r>
              <a:t>E:/好好读论文/agent安全/项目/Sandboxed Platform for Agentic Code Execution/师姐给我的信息/1022-时间计划表(1).xlsx</a:t>
            </a:r>
          </a:p>
          <a:p>
            <a:r>
              <a:t>E:/好好读论文/agent安全/项目/Sandboxed Platform for Agentic Code Execution/SPACE_notes/note_3.md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6" name="title"/>
          <p:cNvSpPr>
            <a:spLocks noGrp="1"/>
          </p:cNvSpPr>
          <p:nvPr/>
        </p:nvSpPr>
        <p:spPr>
          <a:xfrm>
            <a:off x="4273550" y="1323975"/>
            <a:ext cx="1047750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7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SPACE</a:t>
            </a:r>
            <a:endParaRPr sz="7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-subject"/>
          <p:cNvSpPr>
            <a:spLocks noGrp="1"/>
          </p:cNvSpPr>
          <p:nvPr/>
        </p:nvSpPr>
        <p:spPr>
          <a:xfrm>
            <a:off x="4330700" y="2695575"/>
            <a:ext cx="990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4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学习与复现</a:t>
            </a:r>
            <a:endParaRPr sz="4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resenter"/>
          <p:cNvSpPr>
            <a:spLocks noGrp="1"/>
          </p:cNvSpPr>
          <p:nvPr/>
        </p:nvSpPr>
        <p:spPr>
          <a:xfrm>
            <a:off x="5803900" y="5505450"/>
            <a:ext cx="4000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孙维泽</a:t>
            </a:r>
            <a:endParaRPr sz="21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ate"/>
          <p:cNvSpPr>
            <a:spLocks noGrp="1"/>
          </p:cNvSpPr>
          <p:nvPr/>
        </p:nvSpPr>
        <p:spPr>
          <a:xfrm>
            <a:off x="5803900" y="6019800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650" b="0">
                <a:solidFill>
                  <a:srgbClr val="C9D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</a:t>
            </a:r>
            <a:endParaRPr sz="165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SPACE 的定位与分工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04850" y="13620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2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为工具命令提供独立的 Linux 执行环境</a:t>
            </a:r>
            <a:endParaRPr sz="22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04850" y="2162175"/>
          <a:ext cx="10763250" cy="3238500"/>
        </p:xfrm>
        <a:graphic>
          <a:graphicData uri="http://schemas.openxmlformats.org/drawingml/2006/table">
            <a:tbl>
              <a:tblPr firstRow="1"/>
              <a:tblGrid>
                <a:gridCol w="3238500"/>
                <a:gridCol w="75247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主要职责</a:t>
                      </a:r>
                      <a:endParaRPr sz="1800" b="1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/ 客户端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决定执行什么，并接收结果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SPACE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管理模板、沙箱、命令会话与生命周期</a:t>
                      </a:r>
                      <a:endParaRPr sz="18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Firecracker + KVM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创建和运行 microVM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沙箱内进程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在客体内核和文件系统中执行命令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>
            <a:spLocks noGrp="1"/>
          </p:cNvSpPr>
          <p:nvPr/>
        </p:nvSpPr>
        <p:spPr>
          <a:xfrm>
            <a:off x="723900" y="57816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本阶段已跑通真实 Firecracker 环境的创建、执行与删除</a:t>
            </a:r>
            <a:endParaRPr sz="2025" b="1">
              <a:solidFill>
                <a:srgbClr val="162D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一次命令的执行流程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14375" y="13811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控制面管理环境与会话，数据面传输执行交互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04850" y="2114550"/>
          <a:ext cx="10763250" cy="3543300"/>
        </p:xfrm>
        <a:graphic>
          <a:graphicData uri="http://schemas.openxmlformats.org/drawingml/2006/table">
            <a:tbl>
              <a:tblPr firstRow="1"/>
              <a:tblGrid>
                <a:gridCol w="2095500"/>
                <a:gridCol w="4857750"/>
                <a:gridCol w="381000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步骤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客户端动作</a:t>
                      </a:r>
                      <a:endParaRPr sz="1800" b="1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关键检查</a:t>
                      </a:r>
                      <a:endParaRPr sz="1800" b="1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01  创建沙箱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create_sandbox() 选择模板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取得 sbx_ 和 op_ ID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02  等待就绪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wait_for_state() 轮询状态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操作成功且执行接口可用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03  提交命令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run_command() 创建会话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使用管理凭证，取得 proc_ ID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04  连接执行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attach 后读取 SSE 输出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使用连接令牌，检查退出码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05  删除环境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delete_sandbox() 请求删除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等待删除操作成功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>
            <a:spLocks noGrp="1"/>
          </p:cNvSpPr>
          <p:nvPr/>
        </p:nvSpPr>
        <p:spPr>
          <a:xfrm>
            <a:off x="723900" y="59436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创建回执后仍需等待就绪。命令结束后仍需管理沙箱生命周期。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真实复现：同一沙箱连续执行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14375" y="13811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四条命令使用同一个 sandbox_id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3900" y="22288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09700" y="222885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写入数据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09700" y="258127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12 8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3900" y="301942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09700" y="3019425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第一次求和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09700" y="3371850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total=20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23900" y="381000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09700" y="381000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修改数据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ody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409700" y="4162425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12 18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ody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23900" y="4600575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ody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09700" y="4600575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再次求和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ody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409700" y="4953000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950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total=30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3"/>
          <a:srcRect t="34000" r="16000" b="10500"/>
          <a:stretch>
            <a:fillRect/>
          </a:stretch>
        </p:blipFill>
        <p:spPr>
          <a:xfrm>
            <a:off x="5219700" y="1981200"/>
            <a:ext cx="6248400" cy="3943350"/>
          </a:xfrm>
          <a:prstGeom prst="rect">
            <a:avLst/>
          </a:prstGeom>
        </p:spPr>
      </p:pic>
      <p:sp>
        <p:nvSpPr>
          <p:cNvPr id="17" name="body"/>
          <p:cNvSpPr>
            <a:spLocks noGrp="1"/>
          </p:cNvSpPr>
          <p:nvPr/>
        </p:nvSpPr>
        <p:spPr>
          <a:xfrm>
            <a:off x="723900" y="6067425"/>
            <a:ext cx="1057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命令之间保留文件状态，可支撑连续的工具操作</a:t>
            </a:r>
            <a:endParaRPr sz="1875" b="1">
              <a:solidFill>
                <a:srgbClr val="162D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失败处理与验证边界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14375" y="13811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guest 返回退出码 7，客户端明确报告失败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79" y="2114550"/>
            <a:ext cx="10077843" cy="314325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/>
        </p:nvSpPr>
        <p:spPr>
          <a:xfrm>
            <a:off x="733425" y="5534025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已验证：能够识别命令失败，并保留诊断记录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733425" y="60579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待验证：跨沙箱访问控制、网络限制与攻击阻断效果</a:t>
            </a:r>
            <a:endParaRPr sz="1875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Progent：论文中的三类接入实验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714375" y="13811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库内接入、产品代理与多 Agent 统一控制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14375" y="20097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库模式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714375" y="239077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LangChain / OpenAI Agents SDK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ntity"/>
          <p:cNvSpPr>
            <a:spLocks noGrp="1"/>
          </p:cNvSpPr>
          <p:nvPr/>
        </p:nvSpPr>
        <p:spPr>
          <a:xfrm>
            <a:off x="714375" y="5029200"/>
            <a:ext cx="3238500" cy="68580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6" name="entity-label"/>
          <p:cNvSpPr>
            <a:spLocks noGrp="1"/>
          </p:cNvSpPr>
          <p:nvPr/>
        </p:nvSpPr>
        <p:spPr>
          <a:xfrm>
            <a:off x="771525" y="5057775"/>
            <a:ext cx="3124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Server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AgentDojo 工具环境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619250" y="4324350"/>
            <a:ext cx="0" cy="704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8" name="body"/>
          <p:cNvSpPr>
            <a:spLocks noGrp="1"/>
          </p:cNvSpPr>
          <p:nvPr/>
        </p:nvSpPr>
        <p:spPr>
          <a:xfrm>
            <a:off x="1790700" y="4543425"/>
            <a:ext cx="213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工具调用 / 结果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"/>
          <p:cNvSpPr>
            <a:spLocks noGrp="1"/>
          </p:cNvSpPr>
          <p:nvPr/>
        </p:nvSpPr>
        <p:spPr>
          <a:xfrm>
            <a:off x="4429125" y="20097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代理模式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"/>
          <p:cNvSpPr>
            <a:spLocks noGrp="1"/>
          </p:cNvSpPr>
          <p:nvPr/>
        </p:nvSpPr>
        <p:spPr>
          <a:xfrm>
            <a:off x="4429125" y="239077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OpenHands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ntity"/>
          <p:cNvSpPr>
            <a:spLocks noGrp="1"/>
          </p:cNvSpPr>
          <p:nvPr/>
        </p:nvSpPr>
        <p:spPr>
          <a:xfrm>
            <a:off x="4429125" y="5029200"/>
            <a:ext cx="3238500" cy="68580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12" name="entity-label"/>
          <p:cNvSpPr>
            <a:spLocks noGrp="1"/>
          </p:cNvSpPr>
          <p:nvPr/>
        </p:nvSpPr>
        <p:spPr>
          <a:xfrm>
            <a:off x="4486275" y="5057775"/>
            <a:ext cx="3124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Server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AgentDojo 工具环境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334000" y="4324350"/>
            <a:ext cx="0" cy="704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14" name="body"/>
          <p:cNvSpPr>
            <a:spLocks noGrp="1"/>
          </p:cNvSpPr>
          <p:nvPr/>
        </p:nvSpPr>
        <p:spPr>
          <a:xfrm>
            <a:off x="5505450" y="4543425"/>
            <a:ext cx="213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工具调用 / 结果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ody"/>
          <p:cNvSpPr>
            <a:spLocks noGrp="1"/>
          </p:cNvSpPr>
          <p:nvPr/>
        </p:nvSpPr>
        <p:spPr>
          <a:xfrm>
            <a:off x="8143875" y="20097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Agent（代理模式）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ody"/>
          <p:cNvSpPr>
            <a:spLocks noGrp="1"/>
          </p:cNvSpPr>
          <p:nvPr/>
        </p:nvSpPr>
        <p:spPr>
          <a:xfrm>
            <a:off x="8143875" y="239077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AutoGen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ntity"/>
          <p:cNvSpPr>
            <a:spLocks noGrp="1"/>
          </p:cNvSpPr>
          <p:nvPr/>
        </p:nvSpPr>
        <p:spPr>
          <a:xfrm>
            <a:off x="8143875" y="5029200"/>
            <a:ext cx="3238500" cy="68580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18" name="entity-label"/>
          <p:cNvSpPr>
            <a:spLocks noGrp="1"/>
          </p:cNvSpPr>
          <p:nvPr/>
        </p:nvSpPr>
        <p:spPr>
          <a:xfrm>
            <a:off x="8201025" y="5057775"/>
            <a:ext cx="31242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Server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AgentDojo 工具环境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9048750" y="4324350"/>
            <a:ext cx="0" cy="704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20" name="body"/>
          <p:cNvSpPr>
            <a:spLocks noGrp="1"/>
          </p:cNvSpPr>
          <p:nvPr/>
        </p:nvSpPr>
        <p:spPr>
          <a:xfrm>
            <a:off x="9220200" y="4543425"/>
            <a:ext cx="213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工具调用 / 结果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ntity-boundary"/>
          <p:cNvSpPr>
            <a:spLocks noGrp="1"/>
          </p:cNvSpPr>
          <p:nvPr/>
        </p:nvSpPr>
        <p:spPr>
          <a:xfrm>
            <a:off x="619125" y="2724150"/>
            <a:ext cx="2095500" cy="1714500"/>
          </a:xfrm>
          <a:prstGeom prst="rect">
            <a:avLst/>
          </a:prstGeom>
          <a:noFill/>
          <a:ln w="11430">
            <a:solidFill>
              <a:srgbClr val="DCE5EB"/>
            </a:solidFill>
            <a:prstDash val="dash"/>
          </a:ln>
        </p:spPr>
      </p:sp>
      <p:sp>
        <p:nvSpPr>
          <p:cNvPr id="22" name="body"/>
          <p:cNvSpPr>
            <a:spLocks noGrp="1"/>
          </p:cNvSpPr>
          <p:nvPr/>
        </p:nvSpPr>
        <p:spPr>
          <a:xfrm>
            <a:off x="800100" y="2752725"/>
            <a:ext cx="1762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应用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ntity"/>
          <p:cNvSpPr>
            <a:spLocks noGrp="1"/>
          </p:cNvSpPr>
          <p:nvPr/>
        </p:nvSpPr>
        <p:spPr>
          <a:xfrm>
            <a:off x="714375" y="3124200"/>
            <a:ext cx="1809750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24" name="entity-label"/>
          <p:cNvSpPr>
            <a:spLocks noGrp="1"/>
          </p:cNvSpPr>
          <p:nvPr/>
        </p:nvSpPr>
        <p:spPr>
          <a:xfrm>
            <a:off x="771525" y="3152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ntity"/>
          <p:cNvSpPr>
            <a:spLocks noGrp="1"/>
          </p:cNvSpPr>
          <p:nvPr/>
        </p:nvSpPr>
        <p:spPr>
          <a:xfrm>
            <a:off x="714375" y="3886200"/>
            <a:ext cx="1809750" cy="438150"/>
          </a:xfrm>
          <a:prstGeom prst="rect">
            <a:avLst/>
          </a:prstGeom>
          <a:solidFill>
            <a:srgbClr val="EDF3F6"/>
          </a:solidFill>
          <a:ln w="12383">
            <a:solidFill>
              <a:srgbClr val="147D92"/>
            </a:solidFill>
          </a:ln>
        </p:spPr>
      </p:sp>
      <p:sp>
        <p:nvSpPr>
          <p:cNvPr id="26" name="entity-label"/>
          <p:cNvSpPr>
            <a:spLocks noGrp="1"/>
          </p:cNvSpPr>
          <p:nvPr/>
        </p:nvSpPr>
        <p:spPr>
          <a:xfrm>
            <a:off x="771525" y="3914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 中间件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ntity"/>
          <p:cNvSpPr>
            <a:spLocks noGrp="1"/>
          </p:cNvSpPr>
          <p:nvPr/>
        </p:nvSpPr>
        <p:spPr>
          <a:xfrm>
            <a:off x="2952750" y="3124200"/>
            <a:ext cx="1000125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28" name="entity-label"/>
          <p:cNvSpPr>
            <a:spLocks noGrp="1"/>
          </p:cNvSpPr>
          <p:nvPr/>
        </p:nvSpPr>
        <p:spPr>
          <a:xfrm>
            <a:off x="3009900" y="3152775"/>
            <a:ext cx="8858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2524125" y="3343275"/>
            <a:ext cx="428625" cy="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30" name="body"/>
          <p:cNvSpPr>
            <a:spLocks noGrp="1"/>
          </p:cNvSpPr>
          <p:nvPr/>
        </p:nvSpPr>
        <p:spPr>
          <a:xfrm>
            <a:off x="2571750" y="303847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7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endParaRPr sz="127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1619250" y="3562350"/>
            <a:ext cx="0" cy="323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32" name="entity"/>
          <p:cNvSpPr>
            <a:spLocks noGrp="1"/>
          </p:cNvSpPr>
          <p:nvPr/>
        </p:nvSpPr>
        <p:spPr>
          <a:xfrm>
            <a:off x="4429125" y="3124200"/>
            <a:ext cx="1809750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33" name="entity-label"/>
          <p:cNvSpPr>
            <a:spLocks noGrp="1"/>
          </p:cNvSpPr>
          <p:nvPr/>
        </p:nvSpPr>
        <p:spPr>
          <a:xfrm>
            <a:off x="4486275" y="3152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/ OpenHands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ntity"/>
          <p:cNvSpPr>
            <a:spLocks noGrp="1"/>
          </p:cNvSpPr>
          <p:nvPr/>
        </p:nvSpPr>
        <p:spPr>
          <a:xfrm>
            <a:off x="4429125" y="3886200"/>
            <a:ext cx="1809750" cy="438150"/>
          </a:xfrm>
          <a:prstGeom prst="rect">
            <a:avLst/>
          </a:prstGeom>
          <a:solidFill>
            <a:srgbClr val="EDF3F6"/>
          </a:solidFill>
          <a:ln w="12383">
            <a:solidFill>
              <a:srgbClr val="147D92"/>
            </a:solidFill>
          </a:ln>
        </p:spPr>
      </p:sp>
      <p:sp>
        <p:nvSpPr>
          <p:cNvPr id="35" name="entity-label"/>
          <p:cNvSpPr>
            <a:spLocks noGrp="1"/>
          </p:cNvSpPr>
          <p:nvPr/>
        </p:nvSpPr>
        <p:spPr>
          <a:xfrm>
            <a:off x="4486275" y="3914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 代理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ntity"/>
          <p:cNvSpPr>
            <a:spLocks noGrp="1"/>
          </p:cNvSpPr>
          <p:nvPr/>
        </p:nvSpPr>
        <p:spPr>
          <a:xfrm>
            <a:off x="6667500" y="3886200"/>
            <a:ext cx="1000125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37" name="entity-label"/>
          <p:cNvSpPr>
            <a:spLocks noGrp="1"/>
          </p:cNvSpPr>
          <p:nvPr/>
        </p:nvSpPr>
        <p:spPr>
          <a:xfrm>
            <a:off x="6724650" y="3914775"/>
            <a:ext cx="8858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5334000" y="3562350"/>
            <a:ext cx="0" cy="323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cxnSp>
        <p:nvCxnSpPr>
          <p:cNvPr id="39" name="直接箭头连接符 38"/>
          <p:cNvCxnSpPr/>
          <p:nvPr/>
        </p:nvCxnSpPr>
        <p:spPr>
          <a:xfrm>
            <a:off x="6238875" y="4105275"/>
            <a:ext cx="428625" cy="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40" name="body"/>
          <p:cNvSpPr>
            <a:spLocks noGrp="1"/>
          </p:cNvSpPr>
          <p:nvPr/>
        </p:nvSpPr>
        <p:spPr>
          <a:xfrm>
            <a:off x="6172200" y="3638550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API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ntity-boundary"/>
          <p:cNvSpPr>
            <a:spLocks noGrp="1"/>
          </p:cNvSpPr>
          <p:nvPr/>
        </p:nvSpPr>
        <p:spPr>
          <a:xfrm>
            <a:off x="8048625" y="2724150"/>
            <a:ext cx="3429000" cy="933450"/>
          </a:xfrm>
          <a:prstGeom prst="rect">
            <a:avLst/>
          </a:prstGeom>
          <a:noFill/>
          <a:ln w="11430">
            <a:solidFill>
              <a:srgbClr val="DCE5EB"/>
            </a:solidFill>
            <a:prstDash val="dash"/>
          </a:ln>
        </p:spPr>
      </p:sp>
      <p:sp>
        <p:nvSpPr>
          <p:cNvPr id="42" name="body"/>
          <p:cNvSpPr>
            <a:spLocks noGrp="1"/>
          </p:cNvSpPr>
          <p:nvPr/>
        </p:nvSpPr>
        <p:spPr>
          <a:xfrm>
            <a:off x="8229600" y="2752725"/>
            <a:ext cx="3143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AutoGen 多 Agent 系统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ntity"/>
          <p:cNvSpPr>
            <a:spLocks noGrp="1"/>
          </p:cNvSpPr>
          <p:nvPr/>
        </p:nvSpPr>
        <p:spPr>
          <a:xfrm>
            <a:off x="8143875" y="3124200"/>
            <a:ext cx="1809750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44" name="entity-label"/>
          <p:cNvSpPr>
            <a:spLocks noGrp="1"/>
          </p:cNvSpPr>
          <p:nvPr/>
        </p:nvSpPr>
        <p:spPr>
          <a:xfrm>
            <a:off x="8201025" y="3152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 Agent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ntity"/>
          <p:cNvSpPr>
            <a:spLocks noGrp="1"/>
          </p:cNvSpPr>
          <p:nvPr/>
        </p:nvSpPr>
        <p:spPr>
          <a:xfrm>
            <a:off x="10239375" y="3124200"/>
            <a:ext cx="1143000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46" name="entity-label"/>
          <p:cNvSpPr>
            <a:spLocks noGrp="1"/>
          </p:cNvSpPr>
          <p:nvPr/>
        </p:nvSpPr>
        <p:spPr>
          <a:xfrm>
            <a:off x="10296525" y="3152775"/>
            <a:ext cx="1028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 ×6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9953625" y="3343275"/>
            <a:ext cx="285750" cy="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48" name="entity"/>
          <p:cNvSpPr>
            <a:spLocks noGrp="1"/>
          </p:cNvSpPr>
          <p:nvPr/>
        </p:nvSpPr>
        <p:spPr>
          <a:xfrm>
            <a:off x="8143875" y="3886200"/>
            <a:ext cx="1809750" cy="438150"/>
          </a:xfrm>
          <a:prstGeom prst="rect">
            <a:avLst/>
          </a:prstGeom>
          <a:solidFill>
            <a:srgbClr val="EDF3F6"/>
          </a:solidFill>
          <a:ln w="12383">
            <a:solidFill>
              <a:srgbClr val="147D92"/>
            </a:solidFill>
          </a:ln>
        </p:spPr>
      </p:sp>
      <p:sp>
        <p:nvSpPr>
          <p:cNvPr id="49" name="entity-label"/>
          <p:cNvSpPr>
            <a:spLocks noGrp="1"/>
          </p:cNvSpPr>
          <p:nvPr/>
        </p:nvSpPr>
        <p:spPr>
          <a:xfrm>
            <a:off x="8201025" y="3914775"/>
            <a:ext cx="1695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 代理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ntity"/>
          <p:cNvSpPr>
            <a:spLocks noGrp="1"/>
          </p:cNvSpPr>
          <p:nvPr/>
        </p:nvSpPr>
        <p:spPr>
          <a:xfrm>
            <a:off x="10382250" y="3886200"/>
            <a:ext cx="1000125" cy="438150"/>
          </a:xfrm>
          <a:prstGeom prst="rect">
            <a:avLst/>
          </a:prstGeom>
          <a:solidFill>
            <a:srgbClr val="FFFFFF"/>
          </a:solidFill>
          <a:ln w="12383">
            <a:solidFill>
              <a:srgbClr val="147D92"/>
            </a:solidFill>
          </a:ln>
        </p:spPr>
      </p:sp>
      <p:sp>
        <p:nvSpPr>
          <p:cNvPr id="51" name="entity-label"/>
          <p:cNvSpPr>
            <a:spLocks noGrp="1"/>
          </p:cNvSpPr>
          <p:nvPr/>
        </p:nvSpPr>
        <p:spPr>
          <a:xfrm>
            <a:off x="10439400" y="3914775"/>
            <a:ext cx="8858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7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048750" y="3562350"/>
            <a:ext cx="0" cy="32385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cxnSp>
        <p:nvCxnSpPr>
          <p:cNvPr id="53" name="直接箭头连接符 52"/>
          <p:cNvCxnSpPr/>
          <p:nvPr/>
        </p:nvCxnSpPr>
        <p:spPr>
          <a:xfrm>
            <a:off x="9953625" y="4105275"/>
            <a:ext cx="428625" cy="0"/>
          </a:xfrm>
          <a:prstGeom prst="straightConnector1">
            <a:avLst/>
          </a:prstGeom>
          <a:ln w="17145">
            <a:solidFill>
              <a:srgbClr val="147D92"/>
            </a:solidFill>
            <a:headEnd type="triangle" w="med" len="med"/>
            <a:tailEnd type="triangle" w="med" len="med"/>
          </a:ln>
        </p:spPr>
      </p:cxnSp>
      <p:sp>
        <p:nvSpPr>
          <p:cNvPr id="54" name="body"/>
          <p:cNvSpPr>
            <a:spLocks noGrp="1"/>
          </p:cNvSpPr>
          <p:nvPr/>
        </p:nvSpPr>
        <p:spPr>
          <a:xfrm>
            <a:off x="9886950" y="3638550"/>
            <a:ext cx="1428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API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body"/>
          <p:cNvSpPr>
            <a:spLocks noGrp="1"/>
          </p:cNvSpPr>
          <p:nvPr/>
        </p:nvSpPr>
        <p:spPr>
          <a:xfrm>
            <a:off x="714375" y="58769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在开发代码中接入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中间件 / Agent 包装器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body"/>
          <p:cNvSpPr>
            <a:spLocks noGrp="1"/>
          </p:cNvSpPr>
          <p:nvPr/>
        </p:nvSpPr>
        <p:spPr>
          <a:xfrm>
            <a:off x="4429125" y="58769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 LLM 与 MCP 地址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无需修改 Agent 内部代码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body"/>
          <p:cNvSpPr>
            <a:spLocks noGrp="1"/>
          </p:cNvSpPr>
          <p:nvPr/>
        </p:nvSpPr>
        <p:spPr>
          <a:xfrm>
            <a:off x="8143875" y="58769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个协调 + 6 个专家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共享一层 Progent 权限控制</a:t>
            </a:r>
            <a:endParaRPr sz="17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body"/>
          <p:cNvSpPr>
            <a:spLocks noGrp="1"/>
          </p:cNvSpPr>
          <p:nvPr/>
        </p:nvSpPr>
        <p:spPr>
          <a:xfrm>
            <a:off x="714375" y="6486525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共同环境：AgentDojo 经 MCP 暴露；论文未指定本页使用哪种 VM / 容器沙箱。</a:t>
            </a:r>
            <a:endParaRPr sz="14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page-number"/>
          <p:cNvSpPr>
            <a:spLocks noGrp="1"/>
          </p:cNvSpPr>
          <p:nvPr/>
        </p:nvSpPr>
        <p:spPr>
          <a:xfrm>
            <a:off x="11049000" y="648652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 与 SPACE：研究中的位置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714375" y="13811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拟接入架构：工具授权与隔离执行协同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ntity"/>
          <p:cNvSpPr>
            <a:spLocks noGrp="1"/>
          </p:cNvSpPr>
          <p:nvPr/>
        </p:nvSpPr>
        <p:spPr>
          <a:xfrm>
            <a:off x="714375" y="2466975"/>
            <a:ext cx="1428750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147D92"/>
            </a:solidFill>
          </a:ln>
        </p:spPr>
      </p:sp>
      <p:sp>
        <p:nvSpPr>
          <p:cNvPr id="4" name="entity-label"/>
          <p:cNvSpPr>
            <a:spLocks noGrp="1"/>
          </p:cNvSpPr>
          <p:nvPr/>
        </p:nvSpPr>
        <p:spPr>
          <a:xfrm>
            <a:off x="790575" y="2533650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43125" y="2828925"/>
            <a:ext cx="428625" cy="0"/>
          </a:xfrm>
          <a:prstGeom prst="straightConnector1">
            <a:avLst/>
          </a:prstGeom>
          <a:ln w="19050">
            <a:solidFill>
              <a:srgbClr val="147D92"/>
            </a:solidFill>
            <a:tailEnd type="triangle" w="med" len="med"/>
          </a:ln>
        </p:spPr>
      </p:cxnSp>
      <p:sp>
        <p:nvSpPr>
          <p:cNvPr id="6" name="entity"/>
          <p:cNvSpPr>
            <a:spLocks noGrp="1"/>
          </p:cNvSpPr>
          <p:nvPr/>
        </p:nvSpPr>
        <p:spPr>
          <a:xfrm>
            <a:off x="2571750" y="2466975"/>
            <a:ext cx="1857375" cy="723900"/>
          </a:xfrm>
          <a:prstGeom prst="rect">
            <a:avLst/>
          </a:prstGeom>
          <a:solidFill>
            <a:srgbClr val="EDF3F6"/>
          </a:solidFill>
          <a:ln w="13335">
            <a:solidFill>
              <a:srgbClr val="147D92"/>
            </a:solidFill>
          </a:ln>
        </p:spPr>
      </p:sp>
      <p:sp>
        <p:nvSpPr>
          <p:cNvPr id="7" name="entity-label"/>
          <p:cNvSpPr>
            <a:spLocks noGrp="1"/>
          </p:cNvSpPr>
          <p:nvPr/>
        </p:nvSpPr>
        <p:spPr>
          <a:xfrm>
            <a:off x="2647950" y="2533650"/>
            <a:ext cx="17049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授权模块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429125" y="2828925"/>
            <a:ext cx="428625" cy="0"/>
          </a:xfrm>
          <a:prstGeom prst="straightConnector1">
            <a:avLst/>
          </a:prstGeom>
          <a:ln w="19050">
            <a:solidFill>
              <a:srgbClr val="147D92"/>
            </a:solidFill>
            <a:tailEnd type="triangle" w="med" len="med"/>
          </a:ln>
        </p:spPr>
      </p:cxnSp>
      <p:sp>
        <p:nvSpPr>
          <p:cNvPr id="9" name="entity"/>
          <p:cNvSpPr>
            <a:spLocks noGrp="1"/>
          </p:cNvSpPr>
          <p:nvPr/>
        </p:nvSpPr>
        <p:spPr>
          <a:xfrm>
            <a:off x="4857750" y="2466975"/>
            <a:ext cx="1714500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147D92"/>
            </a:solidFill>
          </a:ln>
        </p:spPr>
      </p:sp>
      <p:sp>
        <p:nvSpPr>
          <p:cNvPr id="10" name="entity-label"/>
          <p:cNvSpPr>
            <a:spLocks noGrp="1"/>
          </p:cNvSpPr>
          <p:nvPr/>
        </p:nvSpPr>
        <p:spPr>
          <a:xfrm>
            <a:off x="4933950" y="253365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工具服务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572250" y="2828925"/>
            <a:ext cx="428625" cy="0"/>
          </a:xfrm>
          <a:prstGeom prst="straightConnector1">
            <a:avLst/>
          </a:prstGeom>
          <a:ln w="19050">
            <a:solidFill>
              <a:srgbClr val="147D92"/>
            </a:solidFill>
            <a:tailEnd type="triangle" w="med" len="med"/>
          </a:ln>
        </p:spPr>
      </p:cxnSp>
      <p:sp>
        <p:nvSpPr>
          <p:cNvPr id="12" name="entity"/>
          <p:cNvSpPr>
            <a:spLocks noGrp="1"/>
          </p:cNvSpPr>
          <p:nvPr/>
        </p:nvSpPr>
        <p:spPr>
          <a:xfrm>
            <a:off x="7000875" y="2466975"/>
            <a:ext cx="1762125" cy="723900"/>
          </a:xfrm>
          <a:prstGeom prst="rect">
            <a:avLst/>
          </a:prstGeom>
          <a:solidFill>
            <a:srgbClr val="EDF3F6"/>
          </a:solidFill>
          <a:ln w="13335">
            <a:solidFill>
              <a:srgbClr val="147D92"/>
            </a:solidFill>
          </a:ln>
        </p:spPr>
      </p:sp>
      <p:sp>
        <p:nvSpPr>
          <p:cNvPr id="13" name="entity-label"/>
          <p:cNvSpPr>
            <a:spLocks noGrp="1"/>
          </p:cNvSpPr>
          <p:nvPr/>
        </p:nvSpPr>
        <p:spPr>
          <a:xfrm>
            <a:off x="7077075" y="2533650"/>
            <a:ext cx="16097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SPACE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执行管理平台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8763000" y="2828925"/>
            <a:ext cx="428625" cy="0"/>
          </a:xfrm>
          <a:prstGeom prst="straightConnector1">
            <a:avLst/>
          </a:prstGeom>
          <a:ln w="19050">
            <a:solidFill>
              <a:srgbClr val="147D92"/>
            </a:solidFill>
            <a:tailEnd type="triangle" w="med" len="med"/>
          </a:ln>
        </p:spPr>
      </p:cxnSp>
      <p:sp>
        <p:nvSpPr>
          <p:cNvPr id="15" name="entity"/>
          <p:cNvSpPr>
            <a:spLocks noGrp="1"/>
          </p:cNvSpPr>
          <p:nvPr/>
        </p:nvSpPr>
        <p:spPr>
          <a:xfrm>
            <a:off x="9191625" y="2466975"/>
            <a:ext cx="2286000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147D92"/>
            </a:solidFill>
          </a:ln>
        </p:spPr>
      </p:sp>
      <p:sp>
        <p:nvSpPr>
          <p:cNvPr id="16" name="entity-label"/>
          <p:cNvSpPr>
            <a:spLocks noGrp="1"/>
          </p:cNvSpPr>
          <p:nvPr/>
        </p:nvSpPr>
        <p:spPr>
          <a:xfrm>
            <a:off x="9267825" y="2533650"/>
            <a:ext cx="2133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Sandbox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9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microVM</a:t>
            </a:r>
            <a:endParaRPr sz="195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message"/>
          <p:cNvSpPr>
            <a:spLocks noGrp="1"/>
          </p:cNvSpPr>
          <p:nvPr/>
        </p:nvSpPr>
        <p:spPr>
          <a:xfrm>
            <a:off x="1762125" y="21050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message"/>
          <p:cNvSpPr>
            <a:spLocks noGrp="1"/>
          </p:cNvSpPr>
          <p:nvPr/>
        </p:nvSpPr>
        <p:spPr>
          <a:xfrm>
            <a:off x="4010025" y="2105025"/>
            <a:ext cx="1285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检查通过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essage"/>
          <p:cNvSpPr>
            <a:spLocks noGrp="1"/>
          </p:cNvSpPr>
          <p:nvPr/>
        </p:nvSpPr>
        <p:spPr>
          <a:xfrm>
            <a:off x="5924550" y="21050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代码执行请求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message"/>
          <p:cNvSpPr>
            <a:spLocks noGrp="1"/>
          </p:cNvSpPr>
          <p:nvPr/>
        </p:nvSpPr>
        <p:spPr>
          <a:xfrm>
            <a:off x="7877175" y="21050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/ 执行 / 回收</a:t>
            </a:r>
            <a:endParaRPr sz="1500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le"/>
          <p:cNvSpPr>
            <a:spLocks noGrp="1"/>
          </p:cNvSpPr>
          <p:nvPr/>
        </p:nvSpPr>
        <p:spPr>
          <a:xfrm>
            <a:off x="2381250" y="3333750"/>
            <a:ext cx="2238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决定是否允许调用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le"/>
          <p:cNvSpPr>
            <a:spLocks noGrp="1"/>
          </p:cNvSpPr>
          <p:nvPr/>
        </p:nvSpPr>
        <p:spPr>
          <a:xfrm>
            <a:off x="6762750" y="3333750"/>
            <a:ext cx="2238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ctr"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72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管理隔离执行环境</a:t>
            </a:r>
            <a:endParaRPr sz="17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肘形连接符 22"/>
          <p:cNvCxnSpPr/>
          <p:nvPr/>
        </p:nvCxnSpPr>
        <p:spPr>
          <a:xfrm>
            <a:off x="714375" y="3886200"/>
            <a:ext cx="10763250" cy="0"/>
          </a:xfrm>
          <a:prstGeom prst="bentConnector4">
            <a:avLst/>
          </a:prstGeom>
          <a:ln w="9525">
            <a:solidFill>
              <a:srgbClr val="DCE5EB"/>
            </a:solidFill>
          </a:ln>
        </p:spPr>
      </p:cxnSp>
      <p:sp>
        <p:nvSpPr>
          <p:cNvPr id="24" name="body"/>
          <p:cNvSpPr>
            <a:spLocks noGrp="1"/>
          </p:cNvSpPr>
          <p:nvPr/>
        </p:nvSpPr>
        <p:spPr>
          <a:xfrm>
            <a:off x="733425" y="4171950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Progent 管“是否允许调用”，SPACE 管“获准后如何隔离执行”。</a:t>
            </a:r>
            <a:endParaRPr sz="202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ody"/>
          <p:cNvSpPr>
            <a:spLocks noGrp="1"/>
          </p:cNvSpPr>
          <p:nvPr/>
        </p:nvSpPr>
        <p:spPr>
          <a:xfrm>
            <a:off x="733425" y="477202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研究工具名与参数授权时，SPACE 可作为可选后端。</a:t>
            </a:r>
            <a:endParaRPr sz="20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ody"/>
          <p:cNvSpPr>
            <a:spLocks noGrp="1"/>
          </p:cNvSpPr>
          <p:nvPr/>
        </p:nvSpPr>
        <p:spPr>
          <a:xfrm>
            <a:off x="733425" y="534352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研究代码执行与多 Agent 数据隔离时，SPACE 可作为实验底座。</a:t>
            </a:r>
            <a:endParaRPr sz="2025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ody"/>
          <p:cNvSpPr>
            <a:spLocks noGrp="1"/>
          </p:cNvSpPr>
          <p:nvPr/>
        </p:nvSpPr>
        <p:spPr>
          <a:xfrm>
            <a:off x="733425" y="59817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 algn="l"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研究重点：授权如何落实到执行环境，以及实际安全收益与开销。</a:t>
            </a:r>
            <a:endParaRPr sz="18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age-number"/>
          <p:cNvSpPr>
            <a:spLocks noGrp="1"/>
          </p:cNvSpPr>
          <p:nvPr/>
        </p:nvSpPr>
        <p:spPr>
          <a:xfrm>
            <a:off x="11049000" y="647700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5890" y="0"/>
            <a:ext cx="42995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itle"/>
          <p:cNvSpPr>
            <a:spLocks noGrp="1"/>
          </p:cNvSpPr>
          <p:nvPr/>
        </p:nvSpPr>
        <p:spPr>
          <a:xfrm>
            <a:off x="685800" y="52387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30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原型接入思路与下一步</a:t>
            </a:r>
            <a:endParaRPr sz="33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2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62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714375" y="13811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175" b="1">
                <a:solidFill>
                  <a:srgbClr val="147D9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SPACE 作为“隔离执行器”的候选底座</a:t>
            </a:r>
            <a:endParaRPr sz="2175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04850" y="2114550"/>
          <a:ext cx="10763250" cy="2362200"/>
        </p:xfrm>
        <a:graphic>
          <a:graphicData uri="http://schemas.openxmlformats.org/drawingml/2006/table">
            <a:tbl>
              <a:tblPr firstRow="1"/>
              <a:tblGrid>
                <a:gridCol w="3048000"/>
                <a:gridCol w="77152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项目中的位置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拟承担的职责</a:t>
                      </a:r>
                      <a:endParaRPr sz="1800" b="1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T w="6668">
                      <a:solidFill>
                        <a:srgbClr val="DCE5EB"/>
                      </a:solidFill>
                      <a:prstDash val="solid"/>
                    </a:lnT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多智能体框架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产生任务、协作与工具请求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安全中间件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授权管理器、隔离执行器、凭证管理器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2D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SPACE 执行后端</a:t>
                      </a:r>
                      <a:endParaRPr sz="1800" b="1">
                        <a:solidFill>
                          <a:srgbClr val="162D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CE5EB"/>
                      </a:solidFill>
                      <a:prstDash val="solid"/>
                    </a:lnL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8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封装沙箱创建、命令执行与资源回收</a:t>
                      </a:r>
                      <a:endParaRPr sz="1800" b="0">
                        <a:solidFill>
                          <a:srgbClr val="2538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CE5EB"/>
                      </a:solidFill>
                      <a:prstDash val="solid"/>
                    </a:lnR>
                    <a:lnB w="6668">
                      <a:solidFill>
                        <a:srgbClr val="DCE5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>
            <a:spLocks noGrp="1"/>
          </p:cNvSpPr>
          <p:nvPr/>
        </p:nvSpPr>
        <p:spPr>
          <a:xfrm>
            <a:off x="723900" y="476250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2D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2250" b="1">
              <a:solidFill>
                <a:srgbClr val="162D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733425" y="52863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接入一个最小 Agent 工作流，跑通工具执行闭环</a:t>
            </a:r>
            <a:endParaRPr sz="2025" b="0">
              <a:solidFill>
                <a:srgbClr val="2538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"/>
          <p:cNvSpPr>
            <a:spLocks noGrp="1"/>
          </p:cNvSpPr>
          <p:nvPr/>
        </p:nvSpPr>
        <p:spPr>
          <a:xfrm>
            <a:off x="733425" y="58197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5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增加双沙箱私有文件实验，明确隔离与共享边界</a:t>
            </a:r>
            <a:endParaRPr sz="2025" b="0">
              <a:solidFill>
                <a:srgbClr val="2538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2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3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4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5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6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7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8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9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10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11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ags/tag12.xml><?xml version="1.0" encoding="utf-8"?>
<p:tagLst xmlns:p="http://schemas.openxmlformats.org/presentationml/2006/main">
  <p:tag name="KSO_WM_DIAGRAM_VIRTUALLY_FRAME" val="{&quot;height&quot;:247.5,&quot;left&quot;:57,&quot;top&quot;:175.5,&quot;width&quot;:29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WPS 演示</Application>
  <PresentationFormat>Converted Presentation</PresentationFormat>
  <Paragraphs>263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孙维泽</cp:lastModifiedBy>
  <cp:revision>4</cp:revision>
  <dcterms:created xsi:type="dcterms:W3CDTF">2026-10-28T11:11:00Z</dcterms:created>
  <dcterms:modified xsi:type="dcterms:W3CDTF">2026-10-28T15:41:27Z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79BF3CDD57C24B118DF97416A8C0A9D9_12</vt:lpwstr>
  </property>
</Properties>
</file>